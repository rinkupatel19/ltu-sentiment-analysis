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</p:sldIdLst>
  <p:sldSz cx="18288000" cy="10287000"/>
  <p:notesSz cx="6858000" cy="9144000"/>
  <p:embeddedFontLst>
    <p:embeddedFont>
      <p:font typeface="Alexandria Bold" panose="020B0604020202020204" charset="-78"/>
      <p:regular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aret" panose="020B0604020202020204" charset="0"/>
      <p:regular r:id="rId25"/>
    </p:embeddedFont>
    <p:embeddedFont>
      <p:font typeface="Garet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3729" autoAdjust="0"/>
  </p:normalViewPr>
  <p:slideViewPr>
    <p:cSldViewPr>
      <p:cViewPr varScale="1">
        <p:scale>
          <a:sx n="53" d="100"/>
          <a:sy n="53" d="100"/>
        </p:scale>
        <p:origin x="80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nku Patel" userId="86301c966482cd61" providerId="LiveId" clId="{2A1528CC-61D2-4F1C-86D7-79F7DCF00912}"/>
    <pc:docChg chg="undo custSel addSld delSld modSld">
      <pc:chgData name="Rinku Patel" userId="86301c966482cd61" providerId="LiveId" clId="{2A1528CC-61D2-4F1C-86D7-79F7DCF00912}" dt="2025-05-09T01:48:07.247" v="325" actId="5793"/>
      <pc:docMkLst>
        <pc:docMk/>
      </pc:docMkLst>
      <pc:sldChg chg="modSp mod modNotesTx">
        <pc:chgData name="Rinku Patel" userId="86301c966482cd61" providerId="LiveId" clId="{2A1528CC-61D2-4F1C-86D7-79F7DCF00912}" dt="2025-05-08T23:32:59.741" v="19" actId="5793"/>
        <pc:sldMkLst>
          <pc:docMk/>
          <pc:sldMk cId="0" sldId="256"/>
        </pc:sldMkLst>
        <pc:spChg chg="mod">
          <ac:chgData name="Rinku Patel" userId="86301c966482cd61" providerId="LiveId" clId="{2A1528CC-61D2-4F1C-86D7-79F7DCF00912}" dt="2025-05-08T23:32:55.281" v="14" actId="5793"/>
          <ac:spMkLst>
            <pc:docMk/>
            <pc:sldMk cId="0" sldId="256"/>
            <ac:spMk id="13" creationId="{00000000-0000-0000-0000-000000000000}"/>
          </ac:spMkLst>
        </pc:spChg>
      </pc:sldChg>
      <pc:sldChg chg="modNotesTx">
        <pc:chgData name="Rinku Patel" userId="86301c966482cd61" providerId="LiveId" clId="{2A1528CC-61D2-4F1C-86D7-79F7DCF00912}" dt="2025-05-08T23:33:11.764" v="20"/>
        <pc:sldMkLst>
          <pc:docMk/>
          <pc:sldMk cId="0" sldId="257"/>
        </pc:sldMkLst>
      </pc:sldChg>
      <pc:sldChg chg="modNotesTx">
        <pc:chgData name="Rinku Patel" userId="86301c966482cd61" providerId="LiveId" clId="{2A1528CC-61D2-4F1C-86D7-79F7DCF00912}" dt="2025-05-08T23:33:21.516" v="21"/>
        <pc:sldMkLst>
          <pc:docMk/>
          <pc:sldMk cId="0" sldId="258"/>
        </pc:sldMkLst>
      </pc:sldChg>
      <pc:sldChg chg="modNotesTx">
        <pc:chgData name="Rinku Patel" userId="86301c966482cd61" providerId="LiveId" clId="{2A1528CC-61D2-4F1C-86D7-79F7DCF00912}" dt="2025-05-08T23:33:45.816" v="22"/>
        <pc:sldMkLst>
          <pc:docMk/>
          <pc:sldMk cId="0" sldId="259"/>
        </pc:sldMkLst>
      </pc:sldChg>
      <pc:sldChg chg="modNotesTx">
        <pc:chgData name="Rinku Patel" userId="86301c966482cd61" providerId="LiveId" clId="{2A1528CC-61D2-4F1C-86D7-79F7DCF00912}" dt="2025-05-08T23:33:56.628" v="23"/>
        <pc:sldMkLst>
          <pc:docMk/>
          <pc:sldMk cId="0" sldId="260"/>
        </pc:sldMkLst>
      </pc:sldChg>
      <pc:sldChg chg="modNotesTx">
        <pc:chgData name="Rinku Patel" userId="86301c966482cd61" providerId="LiveId" clId="{2A1528CC-61D2-4F1C-86D7-79F7DCF00912}" dt="2025-05-08T23:34:28.400" v="25" actId="20577"/>
        <pc:sldMkLst>
          <pc:docMk/>
          <pc:sldMk cId="0" sldId="261"/>
        </pc:sldMkLst>
      </pc:sldChg>
      <pc:sldChg chg="modNotesTx">
        <pc:chgData name="Rinku Patel" userId="86301c966482cd61" providerId="LiveId" clId="{2A1528CC-61D2-4F1C-86D7-79F7DCF00912}" dt="2025-05-08T23:34:48.714" v="27" actId="20577"/>
        <pc:sldMkLst>
          <pc:docMk/>
          <pc:sldMk cId="0" sldId="262"/>
        </pc:sldMkLst>
      </pc:sldChg>
      <pc:sldChg chg="modNotesTx">
        <pc:chgData name="Rinku Patel" userId="86301c966482cd61" providerId="LiveId" clId="{2A1528CC-61D2-4F1C-86D7-79F7DCF00912}" dt="2025-05-09T00:10:47.616" v="77" actId="20577"/>
        <pc:sldMkLst>
          <pc:docMk/>
          <pc:sldMk cId="0" sldId="263"/>
        </pc:sldMkLst>
      </pc:sldChg>
      <pc:sldChg chg="modSp mod modNotesTx">
        <pc:chgData name="Rinku Patel" userId="86301c966482cd61" providerId="LiveId" clId="{2A1528CC-61D2-4F1C-86D7-79F7DCF00912}" dt="2025-05-09T01:44:43.382" v="284"/>
        <pc:sldMkLst>
          <pc:docMk/>
          <pc:sldMk cId="0" sldId="264"/>
        </pc:sldMkLst>
        <pc:spChg chg="mod">
          <ac:chgData name="Rinku Patel" userId="86301c966482cd61" providerId="LiveId" clId="{2A1528CC-61D2-4F1C-86D7-79F7DCF00912}" dt="2025-05-08T23:39:51.268" v="55" actId="20577"/>
          <ac:spMkLst>
            <pc:docMk/>
            <pc:sldMk cId="0" sldId="264"/>
            <ac:spMk id="8" creationId="{00000000-0000-0000-0000-000000000000}"/>
          </ac:spMkLst>
        </pc:spChg>
      </pc:sldChg>
      <pc:sldChg chg="modSp mod modNotesTx">
        <pc:chgData name="Rinku Patel" userId="86301c966482cd61" providerId="LiveId" clId="{2A1528CC-61D2-4F1C-86D7-79F7DCF00912}" dt="2025-05-09T01:48:07.247" v="325" actId="5793"/>
        <pc:sldMkLst>
          <pc:docMk/>
          <pc:sldMk cId="0" sldId="265"/>
        </pc:sldMkLst>
        <pc:spChg chg="mod">
          <ac:chgData name="Rinku Patel" userId="86301c966482cd61" providerId="LiveId" clId="{2A1528CC-61D2-4F1C-86D7-79F7DCF00912}" dt="2025-05-08T23:39:56.344" v="57" actId="20577"/>
          <ac:spMkLst>
            <pc:docMk/>
            <pc:sldMk cId="0" sldId="265"/>
            <ac:spMk id="8" creationId="{00000000-0000-0000-0000-000000000000}"/>
          </ac:spMkLst>
        </pc:spChg>
      </pc:sldChg>
      <pc:sldChg chg="modSp mod modNotesTx">
        <pc:chgData name="Rinku Patel" userId="86301c966482cd61" providerId="LiveId" clId="{2A1528CC-61D2-4F1C-86D7-79F7DCF00912}" dt="2025-05-09T01:39:15.148" v="246"/>
        <pc:sldMkLst>
          <pc:docMk/>
          <pc:sldMk cId="0" sldId="266"/>
        </pc:sldMkLst>
        <pc:spChg chg="mod">
          <ac:chgData name="Rinku Patel" userId="86301c966482cd61" providerId="LiveId" clId="{2A1528CC-61D2-4F1C-86D7-79F7DCF00912}" dt="2025-05-08T23:40:02.149" v="61" actId="20577"/>
          <ac:spMkLst>
            <pc:docMk/>
            <pc:sldMk cId="0" sldId="266"/>
            <ac:spMk id="8" creationId="{00000000-0000-0000-0000-000000000000}"/>
          </ac:spMkLst>
        </pc:spChg>
      </pc:sldChg>
      <pc:sldChg chg="addSp delSp modSp mod modNotesTx">
        <pc:chgData name="Rinku Patel" userId="86301c966482cd61" providerId="LiveId" clId="{2A1528CC-61D2-4F1C-86D7-79F7DCF00912}" dt="2025-05-09T01:40:16.436" v="248"/>
        <pc:sldMkLst>
          <pc:docMk/>
          <pc:sldMk cId="0" sldId="267"/>
        </pc:sldMkLst>
        <pc:spChg chg="mod">
          <ac:chgData name="Rinku Patel" userId="86301c966482cd61" providerId="LiveId" clId="{2A1528CC-61D2-4F1C-86D7-79F7DCF00912}" dt="2025-05-09T01:18:08.998" v="230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Rinku Patel" userId="86301c966482cd61" providerId="LiveId" clId="{2A1528CC-61D2-4F1C-86D7-79F7DCF00912}" dt="2025-05-08T23:40:10.235" v="65" actId="20577"/>
          <ac:spMkLst>
            <pc:docMk/>
            <pc:sldMk cId="0" sldId="267"/>
            <ac:spMk id="8" creationId="{00000000-0000-0000-0000-000000000000}"/>
          </ac:spMkLst>
        </pc:spChg>
        <pc:picChg chg="add del mod">
          <ac:chgData name="Rinku Patel" userId="86301c966482cd61" providerId="LiveId" clId="{2A1528CC-61D2-4F1C-86D7-79F7DCF00912}" dt="2025-05-09T01:09:27.719" v="193" actId="478"/>
          <ac:picMkLst>
            <pc:docMk/>
            <pc:sldMk cId="0" sldId="267"/>
            <ac:picMk id="10" creationId="{F40C7EF3-5795-92EC-ECE3-70D5D5FD2421}"/>
          </ac:picMkLst>
        </pc:picChg>
        <pc:picChg chg="add del mod">
          <ac:chgData name="Rinku Patel" userId="86301c966482cd61" providerId="LiveId" clId="{2A1528CC-61D2-4F1C-86D7-79F7DCF00912}" dt="2025-05-09T01:06:06.831" v="190" actId="478"/>
          <ac:picMkLst>
            <pc:docMk/>
            <pc:sldMk cId="0" sldId="267"/>
            <ac:picMk id="12" creationId="{89DB05FF-4407-AE54-3D0C-6B826CB2AE82}"/>
          </ac:picMkLst>
        </pc:picChg>
      </pc:sldChg>
      <pc:sldChg chg="modSp mod modNotesTx">
        <pc:chgData name="Rinku Patel" userId="86301c966482cd61" providerId="LiveId" clId="{2A1528CC-61D2-4F1C-86D7-79F7DCF00912}" dt="2025-05-09T01:40:58.524" v="250"/>
        <pc:sldMkLst>
          <pc:docMk/>
          <pc:sldMk cId="0" sldId="268"/>
        </pc:sldMkLst>
        <pc:spChg chg="mod">
          <ac:chgData name="Rinku Patel" userId="86301c966482cd61" providerId="LiveId" clId="{2A1528CC-61D2-4F1C-86D7-79F7DCF00912}" dt="2025-05-08T23:40:14.897" v="67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 modNotesTx">
        <pc:chgData name="Rinku Patel" userId="86301c966482cd61" providerId="LiveId" clId="{2A1528CC-61D2-4F1C-86D7-79F7DCF00912}" dt="2025-05-09T01:42:06.720" v="278" actId="20577"/>
        <pc:sldMkLst>
          <pc:docMk/>
          <pc:sldMk cId="0" sldId="269"/>
        </pc:sldMkLst>
        <pc:spChg chg="mod">
          <ac:chgData name="Rinku Patel" userId="86301c966482cd61" providerId="LiveId" clId="{2A1528CC-61D2-4F1C-86D7-79F7DCF00912}" dt="2025-05-08T23:40:19.112" v="69" actId="20577"/>
          <ac:spMkLst>
            <pc:docMk/>
            <pc:sldMk cId="0" sldId="269"/>
            <ac:spMk id="7" creationId="{00000000-0000-0000-0000-000000000000}"/>
          </ac:spMkLst>
        </pc:spChg>
      </pc:sldChg>
      <pc:sldChg chg="addSp delSp modSp mod modNotesTx">
        <pc:chgData name="Rinku Patel" userId="86301c966482cd61" providerId="LiveId" clId="{2A1528CC-61D2-4F1C-86D7-79F7DCF00912}" dt="2025-05-09T01:43:15.898" v="281" actId="20577"/>
        <pc:sldMkLst>
          <pc:docMk/>
          <pc:sldMk cId="0" sldId="270"/>
        </pc:sldMkLst>
        <pc:spChg chg="mod">
          <ac:chgData name="Rinku Patel" userId="86301c966482cd61" providerId="LiveId" clId="{2A1528CC-61D2-4F1C-86D7-79F7DCF00912}" dt="2025-05-09T00:52:59.188" v="105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Rinku Patel" userId="86301c966482cd61" providerId="LiveId" clId="{2A1528CC-61D2-4F1C-86D7-79F7DCF00912}" dt="2025-05-09T00:53:45.405" v="116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Rinku Patel" userId="86301c966482cd61" providerId="LiveId" clId="{2A1528CC-61D2-4F1C-86D7-79F7DCF00912}" dt="2025-05-08T23:40:25.170" v="71" actId="20577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Rinku Patel" userId="86301c966482cd61" providerId="LiveId" clId="{2A1528CC-61D2-4F1C-86D7-79F7DCF00912}" dt="2025-05-09T00:23:00.515" v="91"/>
          <ac:spMkLst>
            <pc:docMk/>
            <pc:sldMk cId="0" sldId="270"/>
            <ac:spMk id="8" creationId="{00000000-0000-0000-0000-000000000000}"/>
          </ac:spMkLst>
        </pc:spChg>
        <pc:picChg chg="add del mod">
          <ac:chgData name="Rinku Patel" userId="86301c966482cd61" providerId="LiveId" clId="{2A1528CC-61D2-4F1C-86D7-79F7DCF00912}" dt="2025-05-09T00:23:22.197" v="92" actId="478"/>
          <ac:picMkLst>
            <pc:docMk/>
            <pc:sldMk cId="0" sldId="270"/>
            <ac:picMk id="10" creationId="{F8FB54F8-FEC8-EAA4-0A1A-1532ABCC9F9E}"/>
          </ac:picMkLst>
        </pc:picChg>
        <pc:picChg chg="add del mod">
          <ac:chgData name="Rinku Patel" userId="86301c966482cd61" providerId="LiveId" clId="{2A1528CC-61D2-4F1C-86D7-79F7DCF00912}" dt="2025-05-09T00:52:14.884" v="101" actId="478"/>
          <ac:picMkLst>
            <pc:docMk/>
            <pc:sldMk cId="0" sldId="270"/>
            <ac:picMk id="12" creationId="{01501D20-6A2A-A6C8-9790-9E758C62E41C}"/>
          </ac:picMkLst>
        </pc:picChg>
      </pc:sldChg>
      <pc:sldChg chg="modSp mod">
        <pc:chgData name="Rinku Patel" userId="86301c966482cd61" providerId="LiveId" clId="{2A1528CC-61D2-4F1C-86D7-79F7DCF00912}" dt="2025-05-09T01:00:22.066" v="180" actId="20577"/>
        <pc:sldMkLst>
          <pc:docMk/>
          <pc:sldMk cId="0" sldId="271"/>
        </pc:sldMkLst>
        <pc:spChg chg="mod">
          <ac:chgData name="Rinku Patel" userId="86301c966482cd61" providerId="LiveId" clId="{2A1528CC-61D2-4F1C-86D7-79F7DCF00912}" dt="2025-05-09T01:00:22.066" v="180" actId="20577"/>
          <ac:spMkLst>
            <pc:docMk/>
            <pc:sldMk cId="0" sldId="271"/>
            <ac:spMk id="6" creationId="{00000000-0000-0000-0000-000000000000}"/>
          </ac:spMkLst>
        </pc:spChg>
      </pc:sldChg>
      <pc:sldChg chg="add del setBg">
        <pc:chgData name="Rinku Patel" userId="86301c966482cd61" providerId="LiveId" clId="{2A1528CC-61D2-4F1C-86D7-79F7DCF00912}" dt="2025-05-09T00:52:53.342" v="104" actId="47"/>
        <pc:sldMkLst>
          <pc:docMk/>
          <pc:sldMk cId="2054766493" sldId="272"/>
        </pc:sldMkLst>
      </pc:sldChg>
      <pc:sldChg chg="addSp modSp add mod modNotesTx">
        <pc:chgData name="Rinku Patel" userId="86301c966482cd61" providerId="LiveId" clId="{2A1528CC-61D2-4F1C-86D7-79F7DCF00912}" dt="2025-05-09T01:43:53.035" v="283" actId="20577"/>
        <pc:sldMkLst>
          <pc:docMk/>
          <pc:sldMk cId="3445780782" sldId="273"/>
        </pc:sldMkLst>
        <pc:spChg chg="mod">
          <ac:chgData name="Rinku Patel" userId="86301c966482cd61" providerId="LiveId" clId="{2A1528CC-61D2-4F1C-86D7-79F7DCF00912}" dt="2025-05-09T00:55:01.833" v="117" actId="6549"/>
          <ac:spMkLst>
            <pc:docMk/>
            <pc:sldMk cId="3445780782" sldId="273"/>
            <ac:spMk id="3" creationId="{C8FE00AA-7641-0414-841B-2199BFD3E705}"/>
          </ac:spMkLst>
        </pc:spChg>
        <pc:spChg chg="mod">
          <ac:chgData name="Rinku Patel" userId="86301c966482cd61" providerId="LiveId" clId="{2A1528CC-61D2-4F1C-86D7-79F7DCF00912}" dt="2025-05-09T00:59:59.262" v="176" actId="1076"/>
          <ac:spMkLst>
            <pc:docMk/>
            <pc:sldMk cId="3445780782" sldId="273"/>
            <ac:spMk id="4" creationId="{D9E276FD-1BF7-41A4-48CB-B0403CFF4672}"/>
          </ac:spMkLst>
        </pc:spChg>
        <pc:spChg chg="mod">
          <ac:chgData name="Rinku Patel" userId="86301c966482cd61" providerId="LiveId" clId="{2A1528CC-61D2-4F1C-86D7-79F7DCF00912}" dt="2025-05-09T01:00:15.796" v="178" actId="20577"/>
          <ac:spMkLst>
            <pc:docMk/>
            <pc:sldMk cId="3445780782" sldId="273"/>
            <ac:spMk id="7" creationId="{C823FB2A-E818-94DC-35B0-DD8B0475D7A3}"/>
          </ac:spMkLst>
        </pc:spChg>
        <pc:spChg chg="add mod">
          <ac:chgData name="Rinku Patel" userId="86301c966482cd61" providerId="LiveId" clId="{2A1528CC-61D2-4F1C-86D7-79F7DCF00912}" dt="2025-05-09T00:57:30.954" v="139" actId="1076"/>
          <ac:spMkLst>
            <pc:docMk/>
            <pc:sldMk cId="3445780782" sldId="273"/>
            <ac:spMk id="8" creationId="{CF8451A5-9E3A-D681-E3C5-34BC7BFBFE59}"/>
          </ac:spMkLst>
        </pc:spChg>
        <pc:spChg chg="add mod">
          <ac:chgData name="Rinku Patel" userId="86301c966482cd61" providerId="LiveId" clId="{2A1528CC-61D2-4F1C-86D7-79F7DCF00912}" dt="2025-05-09T00:59:50.389" v="175" actId="1076"/>
          <ac:spMkLst>
            <pc:docMk/>
            <pc:sldMk cId="3445780782" sldId="273"/>
            <ac:spMk id="9" creationId="{EBCD1DA5-5DB1-3610-034D-1533DBC703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11A2C-20BF-441A-AD1E-562C1D2954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908DD-1499-4117-BF0D-12393ED4B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91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52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40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2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86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06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1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48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56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85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14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18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51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15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60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17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C97C-9538-D1B8-1EC6-4478BF8BA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7233C-AD2D-EEA2-6844-3629C5EAE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41360-1470-FCEA-AC56-E5BA0B44B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10A23-8882-EC58-9C3F-1D6915F68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0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908DD-1499-4117-BF0D-12393ED4B1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23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ltk.org/" TargetMode="External"/><Relationship Id="rId13" Type="http://schemas.openxmlformats.org/officeDocument/2006/relationships/hyperlink" Target="https://textblob.readthedocs.io/en/dev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seaborn.pydata.org/" TargetMode="External"/><Relationship Id="rId12" Type="http://schemas.openxmlformats.org/officeDocument/2006/relationships/hyperlink" Target="https://amueller.github.io/word_cloud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atplotlib.org/" TargetMode="External"/><Relationship Id="rId11" Type="http://schemas.openxmlformats.org/officeDocument/2006/relationships/hyperlink" Target="https://github.com/amueller/word_cloud" TargetMode="External"/><Relationship Id="rId5" Type="http://schemas.openxmlformats.org/officeDocument/2006/relationships/hyperlink" Target="https://pandas.pydata.org/" TargetMode="External"/><Relationship Id="rId15" Type="http://schemas.openxmlformats.org/officeDocument/2006/relationships/hyperlink" Target="https://docs.python.org/3/library/collections.html#collections.Counter" TargetMode="External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hyperlink" Target="https://scikit-learn.org/stable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668325" y="705850"/>
            <a:ext cx="12951349" cy="422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SOCIAL MEDIA SENTIMENT ANALYSIS REPORT: LAWRENCE TECHNOLOGICAL UNIVERSITY</a:t>
            </a:r>
          </a:p>
          <a:p>
            <a:pPr algn="ctr">
              <a:lnSpc>
                <a:spcPts val="8400"/>
              </a:lnSpc>
            </a:pPr>
            <a:endParaRPr lang="en-US" sz="6000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62982" y="4659318"/>
            <a:ext cx="10162036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Course: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INT6303 – Social Media Data Analytics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Mentor: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Prof. Mazin Al Hamando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Team: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Rinkuben Dhavalkumar Patel, Swathi Kannapiran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6792714" y="8190378"/>
            <a:ext cx="4702572" cy="705137"/>
            <a:chOff x="0" y="0"/>
            <a:chExt cx="1238538" cy="185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8537" cy="185715"/>
            </a:xfrm>
            <a:custGeom>
              <a:avLst/>
              <a:gdLst/>
              <a:ahLst/>
              <a:cxnLst/>
              <a:rect l="l" t="t" r="r" b="b"/>
              <a:pathLst>
                <a:path w="1238537" h="185715">
                  <a:moveTo>
                    <a:pt x="92858" y="0"/>
                  </a:moveTo>
                  <a:lnTo>
                    <a:pt x="1145680" y="0"/>
                  </a:lnTo>
                  <a:cubicBezTo>
                    <a:pt x="1196964" y="0"/>
                    <a:pt x="1238537" y="41574"/>
                    <a:pt x="1238537" y="92858"/>
                  </a:cubicBezTo>
                  <a:lnTo>
                    <a:pt x="1238537" y="92858"/>
                  </a:lnTo>
                  <a:cubicBezTo>
                    <a:pt x="1238537" y="117485"/>
                    <a:pt x="1228754" y="141104"/>
                    <a:pt x="1211340" y="158518"/>
                  </a:cubicBezTo>
                  <a:cubicBezTo>
                    <a:pt x="1193926" y="175932"/>
                    <a:pt x="1170307" y="185715"/>
                    <a:pt x="1145680" y="185715"/>
                  </a:cubicBezTo>
                  <a:lnTo>
                    <a:pt x="92858" y="185715"/>
                  </a:lnTo>
                  <a:cubicBezTo>
                    <a:pt x="68230" y="185715"/>
                    <a:pt x="44612" y="175932"/>
                    <a:pt x="27197" y="158518"/>
                  </a:cubicBezTo>
                  <a:cubicBezTo>
                    <a:pt x="9783" y="141104"/>
                    <a:pt x="0" y="117485"/>
                    <a:pt x="0" y="92858"/>
                  </a:cubicBezTo>
                  <a:lnTo>
                    <a:pt x="0" y="92858"/>
                  </a:lnTo>
                  <a:cubicBezTo>
                    <a:pt x="0" y="68230"/>
                    <a:pt x="9783" y="44612"/>
                    <a:pt x="27197" y="27197"/>
                  </a:cubicBezTo>
                  <a:cubicBezTo>
                    <a:pt x="44612" y="9783"/>
                    <a:pt x="68230" y="0"/>
                    <a:pt x="92858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38538" cy="22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91338" y="8215208"/>
            <a:ext cx="4305324" cy="531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sz="3068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Date: 8</a:t>
            </a:r>
            <a:r>
              <a:rPr lang="en-US" sz="3068" baseline="30000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3068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41415" y="2567666"/>
            <a:ext cx="9205169" cy="284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  <a:p>
            <a:pPr algn="ctr">
              <a:lnSpc>
                <a:spcPts val="11448"/>
              </a:lnSpc>
            </a:pPr>
            <a:endParaRPr lang="en-US" sz="8177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21514" y="4097138"/>
            <a:ext cx="15310688" cy="405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Definition: 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Sentiment analysis as a subset of Natural Language Processing (NLP).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Context: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Analyzes user-generated content from students, faculty, alumni on Twitter, Reddit, and Glassdoor.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Importance: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Helps universities monitor feedback, mitigate risks, and enhance strategy (e.g., marketing, admissions).</a:t>
            </a:r>
          </a:p>
          <a:p>
            <a:pPr algn="ctr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21514" y="3939975"/>
            <a:ext cx="14392742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Issue: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Lack of automated tools to interpret large volumes of unstructured social media feedback.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Impact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Delays in addressing concerns like administrative delays or campus safety.</a:t>
            </a:r>
          </a:p>
          <a:p>
            <a:pPr marL="705747" lvl="1" indent="-352873" algn="l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Objective: 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Develop a system to ingest, classify, and visualize sentiment trends.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3219" y="2410504"/>
            <a:ext cx="15794780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114512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289965" y="1986641"/>
            <a:ext cx="1546529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COLLECTION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6187" y="3939975"/>
            <a:ext cx="16169644" cy="405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Dataset: 500 manually generated posts (Jan-Dec 2024).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Platforms: Twitter, Reddit, Glassdoor.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Fields: Username, Date, Platform, UserType, PostType, Text, Hashtags, Sentiment, PredictedSentiment.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Actual Distribution: 45.8% Positive (229 posts), 43.0% Negative (215 posts), 11.2% Neutral (56 posts).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56077" y="4097138"/>
            <a:ext cx="7332522" cy="405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Steps: Lowercasing, stopword removal, lemmatization.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Purpose: Clean text for accurate sentiment analysis.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Tools: NLTK for preprocessing, Pandas for data handling.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351637" y="3973990"/>
            <a:ext cx="7004303" cy="4363792"/>
          </a:xfrm>
          <a:custGeom>
            <a:avLst/>
            <a:gdLst/>
            <a:ahLst/>
            <a:cxnLst/>
            <a:rect l="l" t="t" r="r" b="b"/>
            <a:pathLst>
              <a:path w="7004303" h="4363792">
                <a:moveTo>
                  <a:pt x="0" y="0"/>
                </a:moveTo>
                <a:lnTo>
                  <a:pt x="7004303" y="0"/>
                </a:lnTo>
                <a:lnTo>
                  <a:pt x="7004303" y="4363792"/>
                </a:lnTo>
                <a:lnTo>
                  <a:pt x="0" y="43637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611161" y="1267048"/>
            <a:ext cx="13480951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PREPROCESSING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94237" y="2779216"/>
            <a:ext cx="14955806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Analysis: TextBlob for polarity scoring (-1 to +1), n-gram frequency, trend detection.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Visualization: Matplotlib, Seaborn for graphs and charts.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Scope: Static analysis, excluding real-time API and neural networks.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035636" y="101178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10028" y="6891477"/>
            <a:ext cx="14955806" cy="146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Preprocessing → Scoring → Visualization</a:t>
            </a:r>
          </a:p>
          <a:p>
            <a:pPr algn="l">
              <a:lnSpc>
                <a:spcPts val="4576"/>
              </a:lnSpc>
            </a:pPr>
            <a:endParaRPr lang="en-US" sz="50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25107" y="3259194"/>
            <a:ext cx="11734219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Positive: 45.8% (229 posts)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Negative: 43.0% (215 posts)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Neutral: 11.2% (56 posts)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Insight: Slight positive lean despite intended balance.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204257" y="3221305"/>
            <a:ext cx="5798592" cy="5175747"/>
          </a:xfrm>
          <a:custGeom>
            <a:avLst/>
            <a:gdLst/>
            <a:ahLst/>
            <a:cxnLst/>
            <a:rect l="l" t="t" r="r" b="b"/>
            <a:pathLst>
              <a:path w="5798592" h="5175747">
                <a:moveTo>
                  <a:pt x="0" y="0"/>
                </a:moveTo>
                <a:lnTo>
                  <a:pt x="5798592" y="0"/>
                </a:lnTo>
                <a:lnTo>
                  <a:pt x="5798592" y="5175747"/>
                </a:lnTo>
                <a:lnTo>
                  <a:pt x="0" y="51757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61434" y="5539101"/>
            <a:ext cx="6216971" cy="2857951"/>
          </a:xfrm>
          <a:custGeom>
            <a:avLst/>
            <a:gdLst/>
            <a:ahLst/>
            <a:cxnLst/>
            <a:rect l="l" t="t" r="r" b="b"/>
            <a:pathLst>
              <a:path w="6216971" h="2857951">
                <a:moveTo>
                  <a:pt x="0" y="0"/>
                </a:moveTo>
                <a:lnTo>
                  <a:pt x="6216971" y="0"/>
                </a:lnTo>
                <a:lnTo>
                  <a:pt x="6216971" y="2857951"/>
                </a:lnTo>
                <a:lnTo>
                  <a:pt x="0" y="28579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25107" y="361496"/>
            <a:ext cx="16060723" cy="284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OVERALL SENTIMENT DISTRIBUTION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93440" y="2340654"/>
            <a:ext cx="11400286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Highest Positive: December (24 posts)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Highest Negative: March (22 posts)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Highest Neutral: December (7 posts)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Trends: Positive growth in late 2024, negative spike in March.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089883" y="4336168"/>
            <a:ext cx="6608725" cy="4717140"/>
          </a:xfrm>
          <a:custGeom>
            <a:avLst/>
            <a:gdLst/>
            <a:ahLst/>
            <a:cxnLst/>
            <a:rect l="l" t="t" r="r" b="b"/>
            <a:pathLst>
              <a:path w="6608725" h="4717140">
                <a:moveTo>
                  <a:pt x="0" y="0"/>
                </a:moveTo>
                <a:lnTo>
                  <a:pt x="6608724" y="0"/>
                </a:lnTo>
                <a:lnTo>
                  <a:pt x="6608724" y="4717140"/>
                </a:lnTo>
                <a:lnTo>
                  <a:pt x="0" y="4717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58181" y="4271289"/>
            <a:ext cx="9377594" cy="4606743"/>
          </a:xfrm>
          <a:custGeom>
            <a:avLst/>
            <a:gdLst/>
            <a:ahLst/>
            <a:cxnLst/>
            <a:rect l="l" t="t" r="r" b="b"/>
            <a:pathLst>
              <a:path w="9377594" h="4606743">
                <a:moveTo>
                  <a:pt x="0" y="0"/>
                </a:moveTo>
                <a:lnTo>
                  <a:pt x="9377594" y="0"/>
                </a:lnTo>
                <a:lnTo>
                  <a:pt x="9377594" y="4606743"/>
                </a:lnTo>
                <a:lnTo>
                  <a:pt x="0" y="460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07" y="683051"/>
            <a:ext cx="162306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MONTHLY SENTIMENT TRENDS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957416" y="3659120"/>
            <a:ext cx="9735942" cy="5671186"/>
          </a:xfrm>
          <a:custGeom>
            <a:avLst/>
            <a:gdLst/>
            <a:ahLst/>
            <a:cxnLst/>
            <a:rect l="l" t="t" r="r" b="b"/>
            <a:pathLst>
              <a:path w="9735942" h="5671186">
                <a:moveTo>
                  <a:pt x="0" y="0"/>
                </a:moveTo>
                <a:lnTo>
                  <a:pt x="9735942" y="0"/>
                </a:lnTo>
                <a:lnTo>
                  <a:pt x="9735942" y="5671186"/>
                </a:lnTo>
                <a:lnTo>
                  <a:pt x="0" y="56711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83164" y="2149496"/>
            <a:ext cx="1140028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Reddit: ~70 Positive, ~80 Negative, ~20 Neutral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Glassdoor: ~80 Positive, ~70 Negative, ~15 Neutral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Twitter: ~60 Positive, ~70 Negative, ~30 Neutral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07" y="683051"/>
            <a:ext cx="162306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SENTIMENT BY PLATFORM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274551" y="2444279"/>
            <a:ext cx="6939705" cy="5543090"/>
          </a:xfrm>
          <a:custGeom>
            <a:avLst/>
            <a:gdLst/>
            <a:ahLst/>
            <a:cxnLst/>
            <a:rect l="l" t="t" r="r" b="b"/>
            <a:pathLst>
              <a:path w="6939705" h="5543090">
                <a:moveTo>
                  <a:pt x="0" y="0"/>
                </a:moveTo>
                <a:lnTo>
                  <a:pt x="6939705" y="0"/>
                </a:lnTo>
                <a:lnTo>
                  <a:pt x="6939705" y="5543089"/>
                </a:lnTo>
                <a:lnTo>
                  <a:pt x="0" y="55430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418583" y="2797109"/>
            <a:ext cx="5564114" cy="478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Students: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49 Positive, 64 Negative, 11 Neutral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Prospective Students: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62 Positive, 47 Negative, 12 Neutral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Faculty: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63 Positive, 56 Negative, 16 Neutral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Alumni: 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55 Positive, 48 Negative, 17 Neutral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68007" y="683051"/>
            <a:ext cx="162306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SENTIMENT BY USER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694720" y="3662701"/>
            <a:ext cx="11301259" cy="5396351"/>
          </a:xfrm>
          <a:custGeom>
            <a:avLst/>
            <a:gdLst/>
            <a:ahLst/>
            <a:cxnLst/>
            <a:rect l="l" t="t" r="r" b="b"/>
            <a:pathLst>
              <a:path w="11301259" h="5396351">
                <a:moveTo>
                  <a:pt x="0" y="0"/>
                </a:moveTo>
                <a:lnTo>
                  <a:pt x="11301259" y="0"/>
                </a:lnTo>
                <a:lnTo>
                  <a:pt x="11301259" y="5396351"/>
                </a:lnTo>
                <a:lnTo>
                  <a:pt x="0" y="53963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83164" y="2149496"/>
            <a:ext cx="1140028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Range: -1 (negative) to +1 (positive)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Peaks: -0.25 to 0.0 (moderate negative), 0.5 to 0.75 (strong positive)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Few extreme scores (-1.0 or 0.0)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07" y="683051"/>
            <a:ext cx="162306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POLARITY SCORE DISTRIBUTION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99301" y="4056142"/>
            <a:ext cx="17199306" cy="4665312"/>
          </a:xfrm>
          <a:custGeom>
            <a:avLst/>
            <a:gdLst/>
            <a:ahLst/>
            <a:cxnLst/>
            <a:rect l="l" t="t" r="r" b="b"/>
            <a:pathLst>
              <a:path w="17199306" h="4665312">
                <a:moveTo>
                  <a:pt x="0" y="0"/>
                </a:moveTo>
                <a:lnTo>
                  <a:pt x="17199306" y="0"/>
                </a:lnTo>
                <a:lnTo>
                  <a:pt x="17199306" y="4665312"/>
                </a:lnTo>
                <a:lnTo>
                  <a:pt x="0" y="46653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363893" y="2149496"/>
            <a:ext cx="15121937" cy="162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Positive Words: "</a:t>
            </a:r>
            <a:r>
              <a:rPr lang="en-US" sz="23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offers," "great," "experience," "excellent," "supportive"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Negative Words: </a:t>
            </a:r>
            <a:r>
              <a:rPr lang="en-US" sz="23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"outdated," "unresponsive," "frustrating," "poor," "communication"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Positive 2-grams:</a:t>
            </a:r>
            <a:r>
              <a:rPr lang="en-US" sz="23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"great experience," "excellent professors"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Negative 2-grams</a:t>
            </a:r>
            <a:r>
              <a:rPr lang="en-US" sz="23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“Confusing Communication," "outdated communication"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07" y="683051"/>
            <a:ext cx="162306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TOP WORDS AND PHRASES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200641" y="5476818"/>
            <a:ext cx="8216924" cy="3555400"/>
          </a:xfrm>
          <a:custGeom>
            <a:avLst/>
            <a:gdLst/>
            <a:ahLst/>
            <a:cxnLst/>
            <a:rect l="l" t="t" r="r" b="b"/>
            <a:pathLst>
              <a:path w="8216924" h="3555400">
                <a:moveTo>
                  <a:pt x="0" y="0"/>
                </a:moveTo>
                <a:lnTo>
                  <a:pt x="8216924" y="0"/>
                </a:lnTo>
                <a:lnTo>
                  <a:pt x="8216924" y="3555400"/>
                </a:lnTo>
                <a:lnTo>
                  <a:pt x="0" y="355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363893" y="2149496"/>
            <a:ext cx="15121937" cy="318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Accuracy: 0.92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Negative: Precision 0.98, Recall 0.88, F1-Score 0.93, Support 50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Neutral: Precision 0.25, Recall 0.50, F1-Score 0.33, Support 4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Positive: Precision 0.98, Recall 1.00, F1-Score 0.99, Support 46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Macro Avg: Precision 0.74, Recall 0.79, F1-Score 0.75, Support 100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Weighted Avg: Precision 0.95, Recall 0.92, F1-Score 0.93, Support 100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Insight: High performance for Positive and Negative, but Neutral classification is weak due to low support (4 posts).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07" y="683051"/>
            <a:ext cx="162306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CLASSIFICATION REPORT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193630" y="895350"/>
            <a:ext cx="9205169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CONCLUSIONS AND RECOMMENDATIONS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05732" y="3892350"/>
            <a:ext cx="11876536" cy="405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Strengths: 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Positive feedback on professors and resources.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Challenges: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Student concerns about facilities and communication.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Recommendations: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Improve infrastructure, enhance communication, and leverage positive aspects in marketing.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43857" y="462652"/>
            <a:ext cx="12042363" cy="1355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FUTURE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61195" y="3236269"/>
            <a:ext cx="14888849" cy="410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For contextual analysis, use BERT or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RoBERTa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instead of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TextBlob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Create a live dashboard for continued institutional usage; 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Analyze sentiment by user type (faculty, alumni, and students); and </a:t>
            </a:r>
          </a:p>
          <a:p>
            <a:pPr marL="705747" lvl="1" indent="-352873" algn="just">
              <a:lnSpc>
                <a:spcPts val="4576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Expand the dataset to incorporate real-time API data and news items.</a:t>
            </a:r>
          </a:p>
          <a:p>
            <a:pPr algn="just">
              <a:lnSpc>
                <a:spcPts val="4576"/>
              </a:lnSpc>
              <a:spcBef>
                <a:spcPct val="0"/>
              </a:spcBef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CA299-5B08-DC53-24C0-D5D718391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9A8A5F-4059-F07B-AF3C-33C0722571E8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8FE00AA-7641-0414-841B-2199BFD3E705}"/>
              </a:ext>
            </a:extLst>
          </p:cNvPr>
          <p:cNvSpPr txBox="1"/>
          <p:nvPr/>
        </p:nvSpPr>
        <p:spPr>
          <a:xfrm>
            <a:off x="3443857" y="462652"/>
            <a:ext cx="12042363" cy="1355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REFERENCES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9E276FD-1BF7-41A4-48CB-B0403CFF4672}"/>
              </a:ext>
            </a:extLst>
          </p:cNvPr>
          <p:cNvSpPr txBox="1"/>
          <p:nvPr/>
        </p:nvSpPr>
        <p:spPr>
          <a:xfrm>
            <a:off x="2590800" y="2738070"/>
            <a:ext cx="7507770" cy="7705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Pandas (Data Handling)</a:t>
            </a: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Website: </a:t>
            </a:r>
            <a:r>
              <a:rPr lang="en-US" sz="1600" u="sng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5"/>
              </a:rPr>
              <a:t>https://pandas.pydata.org/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Citation:</a:t>
            </a:r>
            <a:b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McKinney, W. (2010). Data Structures for Statistical Computing in Python. Proceedings of the 9th Python in Science Conference.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Matplotlib (Visualization)</a:t>
            </a: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Website: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6"/>
              </a:rPr>
              <a:t>https://matplotlib.org/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Citation:</a:t>
            </a:r>
            <a:b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Hunter, J. D. (2007). Matplotlib: A 2D Graphics Environment. Computing in Science &amp; Engineering, 9(3), 90-95.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Seaborn (Advanced Visualization)</a:t>
            </a: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Website: </a:t>
            </a:r>
            <a:r>
              <a:rPr lang="en-US" sz="1600" u="sng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7"/>
              </a:rPr>
              <a:t>https://seaborn.pydata.org/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Citation:</a:t>
            </a:r>
            <a:b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Waskom, M. (2021). Seaborn: Statistical Data Visualization. Journal of Open Source Software, 6(60), 3021.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NLTK – Natural Language Toolkit</a:t>
            </a: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Website: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8"/>
              </a:rPr>
              <a:t>https://www.nltk.org/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Citation:</a:t>
            </a:r>
            <a:b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Bird, S., Klein, E., &amp; Loper, E. (2009). Natural Language Processing with Python. O'Reilly Media Inc.</a:t>
            </a:r>
          </a:p>
          <a:p>
            <a:pPr algn="just">
              <a:lnSpc>
                <a:spcPts val="4576"/>
              </a:lnSpc>
              <a:spcBef>
                <a:spcPct val="0"/>
              </a:spcBef>
            </a:pPr>
            <a:endParaRPr lang="en-US" sz="1600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DE50A61-FD56-20F8-E1B0-954BBFFF2747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5791702-1855-5CDD-B46E-7B8B0D1C8311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823FB2A-E818-94DC-35B0-DD8B0475D7A3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15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CF8451A5-9E3A-D681-E3C5-34BC7BFBFE59}"/>
              </a:ext>
            </a:extLst>
          </p:cNvPr>
          <p:cNvSpPr txBox="1"/>
          <p:nvPr/>
        </p:nvSpPr>
        <p:spPr>
          <a:xfrm>
            <a:off x="3443857" y="1072564"/>
            <a:ext cx="12042363" cy="1213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4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Python Libraries &amp; Tools Used:</a:t>
            </a:r>
            <a:endParaRPr lang="en-US" sz="4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BCD1DA5-5DB1-3610-034D-1533DBC7039E}"/>
              </a:ext>
            </a:extLst>
          </p:cNvPr>
          <p:cNvSpPr txBox="1"/>
          <p:nvPr/>
        </p:nvSpPr>
        <p:spPr>
          <a:xfrm>
            <a:off x="10399229" y="2725395"/>
            <a:ext cx="6593370" cy="6071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 </a:t>
            </a:r>
            <a:r>
              <a:rPr lang="en-US" sz="16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WordCloud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GitHub: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11"/>
              </a:rPr>
              <a:t>https://github.com/amueller/word_cloud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Documentation: </a:t>
            </a:r>
            <a:r>
              <a:rPr lang="en-US" sz="1600" u="sng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12"/>
              </a:rPr>
              <a:t>https://amueller.github.io/word_cloud/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6.  </a:t>
            </a:r>
            <a:r>
              <a:rPr lang="en-US" sz="16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TextBlob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(Sentiment Scoring)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Website: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13"/>
              </a:rPr>
              <a:t>https://textblob.readthedocs.io/en/dev/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Citation:</a:t>
            </a:r>
            <a:b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Loria, S. (2018). </a:t>
            </a:r>
            <a:r>
              <a:rPr lang="en-US" sz="16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TextBlob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Simplified Text Processing.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7.  Scikit-learn (Machine Learning, TF-IDF, Logistic Regression)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Website: </a:t>
            </a:r>
            <a:r>
              <a:rPr lang="en-US" sz="1600" u="sng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14"/>
              </a:rPr>
              <a:t>https://scikit-learn.org/stable/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Citation:</a:t>
            </a:r>
            <a:b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Pedregosa, F., </a:t>
            </a:r>
            <a:r>
              <a:rPr lang="en-US" sz="16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Varoquaux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G., </a:t>
            </a:r>
            <a:r>
              <a:rPr lang="en-US" sz="16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Gramfort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A., et al. (2011). Scikit-learn: Machine Learning in Python. Journal of Machine Learning Research, 12, 2825-2830.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8.  Collections (Counter)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Python Docs: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15"/>
              </a:rPr>
              <a:t>https://docs.python.org/3/library/collections.html#collections.Counter</a:t>
            </a:r>
            <a:r>
              <a:rPr lang="en-US" sz="1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78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1094</Words>
  <Application>Microsoft Office PowerPoint</Application>
  <PresentationFormat>Custom</PresentationFormat>
  <Paragraphs>140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Courier New</vt:lpstr>
      <vt:lpstr>Garet Bold</vt:lpstr>
      <vt:lpstr>Cambria</vt:lpstr>
      <vt:lpstr>Alexandria Bold</vt:lpstr>
      <vt:lpstr>Garet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cp:lastModifiedBy>swathi k</cp:lastModifiedBy>
  <cp:revision>2</cp:revision>
  <dcterms:created xsi:type="dcterms:W3CDTF">2006-08-16T00:00:00Z</dcterms:created>
  <dcterms:modified xsi:type="dcterms:W3CDTF">2025-05-09T02:04:17Z</dcterms:modified>
  <dc:identifier>DAGm5kQ1AFo</dc:identifier>
</cp:coreProperties>
</file>